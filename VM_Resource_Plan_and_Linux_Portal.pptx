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2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869680" y="0"/>
            <a:ext cx="3383280" cy="6858000"/>
          </a:xfrm>
          <a:prstGeom prst="rect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601200" y="0"/>
            <a:ext cx="2560320" cy="6858000"/>
          </a:xfrm>
          <a:prstGeom prst="rect">
            <a:avLst/>
          </a:prstGeom>
          <a:solidFill>
            <a:srgbClr val="1260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51560"/>
            <a:ext cx="7955279" cy="21488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Aptos"/>
              </a:rPr>
              <a:t>ВИРТУАЛДЫ
МАШИНАЛАРДЫҢ
РЕСУРС ЖОСПАРЫ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474720"/>
            <a:ext cx="7406640" cy="8229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000" b="0">
                <a:solidFill>
                  <a:srgbClr val="DCEBF5"/>
                </a:solidFill>
                <a:latin typeface="Aptos"/>
              </a:rPr>
              <a:t>Linux жүйесінде портал қызметін қалпына келтіру тәжірибесі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663440"/>
            <a:ext cx="71323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Aptos"/>
              </a:rPr>
              <a:t>Web VM  •  Database VM  •  Test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640080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Aptos"/>
              </a:rPr>
              <a:t>Орындаған: ____________________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5440680"/>
            <a:ext cx="256032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IT INFRASTRUCTURE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800" b="1">
                <a:solidFill>
                  <a:srgbClr val="172B4D"/>
                </a:solidFill>
                <a:latin typeface="Aptos"/>
              </a:rPr>
              <a:t>1. Мақсат және бастапқы жағдай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87552"/>
            <a:ext cx="1051560" cy="54864"/>
          </a:xfrm>
          <a:prstGeom prst="rect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400" b="0">
                <a:solidFill>
                  <a:srgbClr val="5F707E"/>
                </a:solidFill>
                <a:latin typeface="Aptos"/>
              </a:rPr>
              <a:t>Жүйенің тұрақтылығын, қауіпсіздігін және ресурстардың жеткіліктілігін қамтамасыз ету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182880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900" b="1">
                <a:solidFill>
                  <a:srgbClr val="147EA4"/>
                </a:solidFill>
                <a:latin typeface="Aptos"/>
              </a:rPr>
              <a:t>Мақсат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48840"/>
            <a:ext cx="5074920" cy="10515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000" b="0">
                <a:solidFill>
                  <a:srgbClr val="283746"/>
                </a:solidFill>
                <a:latin typeface="Aptos"/>
              </a:rPr>
              <a:t>Үш виртуалды машинаның ресурстарын жоспарлау және Linux-та істемей қалған портал қызметін қайта іске қосу.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783080"/>
            <a:ext cx="42976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900" b="1">
                <a:solidFill>
                  <a:srgbClr val="147EA4"/>
                </a:solidFill>
                <a:latin typeface="Aptos"/>
              </a:rPr>
              <a:t>Бастапқы мәселелер</a:t>
            </a:r>
          </a:p>
        </p:txBody>
      </p:sp>
      <p:sp>
        <p:nvSpPr>
          <p:cNvPr id="8" name="Oval 7"/>
          <p:cNvSpPr/>
          <p:nvPr/>
        </p:nvSpPr>
        <p:spPr>
          <a:xfrm>
            <a:off x="6309360" y="2295144"/>
            <a:ext cx="164592" cy="16459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240280"/>
            <a:ext cx="470916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0">
                <a:solidFill>
                  <a:srgbClr val="283746"/>
                </a:solidFill>
                <a:latin typeface="Aptos"/>
              </a:rPr>
              <a:t>Диск кеңістігі толып, портал іске қосылмады.</a:t>
            </a:r>
          </a:p>
        </p:txBody>
      </p:sp>
      <p:sp>
        <p:nvSpPr>
          <p:cNvPr id="10" name="Oval 9"/>
          <p:cNvSpPr/>
          <p:nvPr/>
        </p:nvSpPr>
        <p:spPr>
          <a:xfrm>
            <a:off x="6309360" y="3209544"/>
            <a:ext cx="164592" cy="16459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3154680"/>
            <a:ext cx="470916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0">
                <a:solidFill>
                  <a:srgbClr val="283746"/>
                </a:solidFill>
                <a:latin typeface="Aptos"/>
              </a:rPr>
              <a:t>config.env файлының рұқсаты 666 болған — бұл қауіпсіз емес.</a:t>
            </a:r>
          </a:p>
        </p:txBody>
      </p:sp>
      <p:sp>
        <p:nvSpPr>
          <p:cNvPr id="12" name="Oval 11"/>
          <p:cNvSpPr/>
          <p:nvPr/>
        </p:nvSpPr>
        <p:spPr>
          <a:xfrm>
            <a:off x="6309360" y="4123944"/>
            <a:ext cx="164592" cy="16459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069080"/>
            <a:ext cx="4709160" cy="6400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0">
                <a:solidFill>
                  <a:srgbClr val="283746"/>
                </a:solidFill>
                <a:latin typeface="Aptos"/>
              </a:rPr>
              <a:t>Қызмет күйі: inactive.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900" b="0">
                <a:solidFill>
                  <a:srgbClr val="5F707E"/>
                </a:solidFill>
                <a:latin typeface="Aptos"/>
              </a:rPr>
              <a:t>Виртуалды машиналар және Linux қызметін қалпына келтіру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800" b="1">
                <a:solidFill>
                  <a:srgbClr val="172B4D"/>
                </a:solidFill>
                <a:latin typeface="Aptos"/>
              </a:rPr>
              <a:t>2. Үш VM үшін ресурс жоспары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87552"/>
            <a:ext cx="1051560" cy="54864"/>
          </a:xfrm>
          <a:prstGeom prst="rect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400" b="0">
                <a:solidFill>
                  <a:srgbClr val="5F707E"/>
                </a:solidFill>
                <a:latin typeface="Aptos"/>
              </a:rPr>
              <a:t>Бастапқы жоспар; нақты жүктемеге қарай мониторинг арқылы түзетіледі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828800"/>
          <a:ext cx="109270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143000"/>
                <a:gridCol w="1234440"/>
                <a:gridCol w="1645920"/>
                <a:gridCol w="1828800"/>
                <a:gridCol w="324612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VM түрі</a:t>
                      </a:r>
                    </a:p>
                  </a:txBody>
                  <a:tcPr marL="73152" marR="45720" marT="64008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CPU</a:t>
                      </a:r>
                    </a:p>
                  </a:txBody>
                  <a:tcPr marL="73152" marR="45720" marT="64008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RAM</a:t>
                      </a:r>
                    </a:p>
                  </a:txBody>
                  <a:tcPr marL="73152" marR="45720" marT="64008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Storage</a:t>
                      </a:r>
                    </a:p>
                  </a:txBody>
                  <a:tcPr marL="73152" marR="45720" marT="64008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Network</a:t>
                      </a:r>
                    </a:p>
                  </a:txBody>
                  <a:tcPr marL="73152" marR="45720" marT="64008" marB="36576">
                    <a:solidFill>
                      <a:srgbClr val="172B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ptos"/>
                        </a:rPr>
                        <a:t>Backup</a:t>
                      </a:r>
                    </a:p>
                  </a:txBody>
                  <a:tcPr marL="73152" marR="45720" marT="64008" marB="36576">
                    <a:solidFill>
                      <a:srgbClr val="172B4D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3746"/>
                          </a:solidFill>
                          <a:latin typeface="Aptos"/>
                        </a:rPr>
                        <a:t>Web VM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2 vCPU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4 GB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50 GB SSD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1 Gbps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Күнделікті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3746"/>
                          </a:solidFill>
                          <a:latin typeface="Aptos"/>
                        </a:rPr>
                        <a:t>Database VM</a:t>
                      </a:r>
                    </a:p>
                  </a:txBody>
                  <a:tcPr marL="73152" marR="45720" marT="64008" marB="36576"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4 vCPU</a:t>
                      </a:r>
                    </a:p>
                  </a:txBody>
                  <a:tcPr marL="73152" marR="45720" marT="64008" marB="36576"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8 GB</a:t>
                      </a:r>
                    </a:p>
                  </a:txBody>
                  <a:tcPr marL="73152" marR="45720" marT="64008" marB="36576"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200 GB SSD</a:t>
                      </a:r>
                    </a:p>
                  </a:txBody>
                  <a:tcPr marL="73152" marR="45720" marT="64008" marB="36576"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1 Gbps</a:t>
                      </a:r>
                    </a:p>
                  </a:txBody>
                  <a:tcPr marL="73152" marR="45720" marT="64008" marB="36576">
                    <a:solidFill>
                      <a:srgbClr val="E7F0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Күнделікті толық</a:t>
                      </a:r>
                    </a:p>
                  </a:txBody>
                  <a:tcPr marL="73152" marR="45720" marT="64008" marB="36576">
                    <a:solidFill>
                      <a:srgbClr val="E7F0F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283746"/>
                          </a:solidFill>
                          <a:latin typeface="Aptos"/>
                        </a:rPr>
                        <a:t>Test VM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2 vCPU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4 GB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80 GB SSD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1 Gbps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283746"/>
                          </a:solidFill>
                          <a:latin typeface="Aptos"/>
                        </a:rPr>
                        <a:t>Аптасына 1 рет</a:t>
                      </a:r>
                    </a:p>
                  </a:txBody>
                  <a:tcPr marL="73152" marR="45720" marT="64008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983480"/>
            <a:ext cx="10424160" cy="5486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800" b="1">
                <a:solidFill>
                  <a:srgbClr val="20845C"/>
                </a:solidFill>
                <a:latin typeface="Aptos"/>
              </a:rPr>
              <a:t>Capacity reserve: ресурстардың шамамен 20–30%-ын резервте ұстау ұсынылады.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577840"/>
            <a:ext cx="1042416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600" b="0">
                <a:solidFill>
                  <a:srgbClr val="283746"/>
                </a:solidFill>
                <a:latin typeface="Aptos"/>
              </a:rPr>
              <a:t>Бақылау: CPU, RAM, диск толуы және желі жүктемесі.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900" b="0">
                <a:solidFill>
                  <a:srgbClr val="5F707E"/>
                </a:solidFill>
                <a:latin typeface="Aptos"/>
              </a:rPr>
              <a:t>Виртуалды машиналар және Linux қызметін қалпына келтіру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800" b="1">
                <a:solidFill>
                  <a:srgbClr val="172B4D"/>
                </a:solidFill>
                <a:latin typeface="Aptos"/>
              </a:rPr>
              <a:t>3. Linux-та мәселені шешу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87552"/>
            <a:ext cx="1051560" cy="54864"/>
          </a:xfrm>
          <a:prstGeom prst="rect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400" b="0">
                <a:solidFill>
                  <a:srgbClr val="5F707E"/>
                </a:solidFill>
                <a:latin typeface="Aptos"/>
              </a:rPr>
              <a:t>Скриншоттағы командалар және орындалған әрекеттер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691640"/>
            <a:ext cx="438912" cy="43891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28216"/>
            <a:ext cx="438912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673352"/>
            <a:ext cx="283464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1">
                <a:solidFill>
                  <a:srgbClr val="172B4D"/>
                </a:solidFill>
                <a:latin typeface="Aptos"/>
              </a:rPr>
              <a:t>Қолданушы топтарын тексеру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1673352"/>
            <a:ext cx="7223760" cy="5303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500" b="0">
                <a:solidFill>
                  <a:srgbClr val="283746"/>
                </a:solidFill>
                <a:latin typeface="Aptos"/>
              </a:rPr>
              <a:t>id operator  →  operator және webadmin топтары көрсетілді.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87752"/>
            <a:ext cx="438912" cy="43891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624328"/>
            <a:ext cx="438912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569464"/>
            <a:ext cx="283464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1">
                <a:solidFill>
                  <a:srgbClr val="172B4D"/>
                </a:solidFill>
                <a:latin typeface="Aptos"/>
              </a:rPr>
              <a:t>Конфигурацияны қорғау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69464"/>
            <a:ext cx="7223760" cy="5303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500" b="0">
                <a:solidFill>
                  <a:srgbClr val="283746"/>
                </a:solidFill>
                <a:latin typeface="Aptos"/>
              </a:rPr>
              <a:t>chown root:webadmin config.env және chmod 640 config.env.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483864"/>
            <a:ext cx="438912" cy="43891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520440"/>
            <a:ext cx="438912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465576"/>
            <a:ext cx="283464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1">
                <a:solidFill>
                  <a:srgbClr val="172B4D"/>
                </a:solidFill>
                <a:latin typeface="Aptos"/>
              </a:rPr>
              <a:t>Дискті босату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60520" y="3465576"/>
            <a:ext cx="7223760" cy="5303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500" b="0">
                <a:solidFill>
                  <a:srgbClr val="283746"/>
                </a:solidFill>
                <a:latin typeface="Aptos"/>
              </a:rPr>
              <a:t>journal vacuum 7d орындалып, диск қолданылуы 58%-ға түсті.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379976"/>
            <a:ext cx="438912" cy="43891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2"/>
            <a:ext cx="438912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61688"/>
            <a:ext cx="283464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1">
                <a:solidFill>
                  <a:srgbClr val="172B4D"/>
                </a:solidFill>
                <a:latin typeface="Aptos"/>
              </a:rPr>
              <a:t>Қызметті қайта іске қосу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361688"/>
            <a:ext cx="7223760" cy="5303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500" b="0">
                <a:solidFill>
                  <a:srgbClr val="283746"/>
                </a:solidFill>
                <a:latin typeface="Aptos"/>
              </a:rPr>
              <a:t>systemctl restart portal → portal.service active (running).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5276088"/>
            <a:ext cx="438912" cy="438912"/>
          </a:xfrm>
          <a:prstGeom prst="ellipse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12664"/>
            <a:ext cx="438912" cy="29260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257800"/>
            <a:ext cx="2834640" cy="34747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1">
                <a:solidFill>
                  <a:srgbClr val="172B4D"/>
                </a:solidFill>
                <a:latin typeface="Aptos"/>
              </a:rPr>
              <a:t>Қолжетімділікті тексеру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5257800"/>
            <a:ext cx="7223760" cy="530352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500" b="0">
                <a:solidFill>
                  <a:srgbClr val="283746"/>
                </a:solidFill>
                <a:latin typeface="Aptos"/>
              </a:rPr>
              <a:t>curl localhost → HTTP/1.1 200 OK және AI Institute Portal.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900" b="0">
                <a:solidFill>
                  <a:srgbClr val="5F707E"/>
                </a:solidFill>
                <a:latin typeface="Aptos"/>
              </a:rPr>
              <a:t>Виртуалды машиналар және Linux қызметін қалпына келтіру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800" b="1">
                <a:solidFill>
                  <a:srgbClr val="172B4D"/>
                </a:solidFill>
                <a:latin typeface="Aptos"/>
              </a:rPr>
              <a:t>4. Орындалған жұмыстың дәлелі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87552"/>
            <a:ext cx="1051560" cy="54864"/>
          </a:xfrm>
          <a:prstGeom prst="rect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400" b="0">
                <a:solidFill>
                  <a:srgbClr val="5F707E"/>
                </a:solidFill>
                <a:latin typeface="Aptos"/>
              </a:rPr>
              <a:t>Терминалдағы нәтиже: рұқсаттар түзетілді, диск босатылды, портал іске қосылды</a:t>
            </a:r>
          </a:p>
        </p:txBody>
      </p:sp>
      <p:pic>
        <p:nvPicPr>
          <p:cNvPr id="5" name="Picture 4" descr="Снимок экрана 2026-10-15 в 01.33.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615737"/>
            <a:ext cx="10972800" cy="44952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900" b="0">
                <a:solidFill>
                  <a:srgbClr val="5F707E"/>
                </a:solidFill>
                <a:latin typeface="Aptos"/>
              </a:rPr>
              <a:t>Виртуалды машиналар және Linux қызметін қалпына келтіру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5943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2800" b="1">
                <a:solidFill>
                  <a:srgbClr val="172B4D"/>
                </a:solidFill>
                <a:latin typeface="Aptos"/>
              </a:rPr>
              <a:t>5. Нәтиже, тәуекел және тексеру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987552"/>
            <a:ext cx="1051560" cy="54864"/>
          </a:xfrm>
          <a:prstGeom prst="rect">
            <a:avLst/>
          </a:prstGeom>
          <a:solidFill>
            <a:srgbClr val="147E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115568"/>
            <a:ext cx="10972800" cy="41148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400" b="0">
                <a:solidFill>
                  <a:srgbClr val="5F707E"/>
                </a:solidFill>
                <a:latin typeface="Aptos"/>
              </a:rPr>
              <a:t>Қалпына келтіру нәтижесі нақты командалармен тексерілді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2788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147EA4"/>
                </a:solidFill>
                <a:latin typeface="Aptos"/>
              </a:rPr>
              <a:t>Диск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560320"/>
            <a:ext cx="27889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000" b="1">
                <a:solidFill>
                  <a:srgbClr val="20845C"/>
                </a:solidFill>
                <a:latin typeface="Aptos"/>
              </a:rPr>
              <a:t>98%-дан 58%-ға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0">
                <a:solidFill>
                  <a:srgbClr val="283746"/>
                </a:solidFill>
                <a:latin typeface="Aptos"/>
              </a:rPr>
              <a:t>Журналдардың ескі архивтері тазартылды.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0520" y="182880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43400" y="2057400"/>
            <a:ext cx="2788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147EA4"/>
                </a:solidFill>
                <a:latin typeface="Aptos"/>
              </a:rPr>
              <a:t>Қауіпсіздік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60320"/>
            <a:ext cx="27889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000" b="1">
                <a:solidFill>
                  <a:srgbClr val="20845C"/>
                </a:solidFill>
                <a:latin typeface="Aptos"/>
              </a:rPr>
              <a:t>640 рұқсаты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108960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0">
                <a:solidFill>
                  <a:srgbClr val="283746"/>
                </a:solidFill>
                <a:latin typeface="Aptos"/>
              </a:rPr>
              <a:t>Файл root:webadmin иелігіне берілді.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1828800"/>
            <a:ext cx="315468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2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18119" y="2057400"/>
            <a:ext cx="2788920" cy="32004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700" b="1">
                <a:solidFill>
                  <a:srgbClr val="147EA4"/>
                </a:solidFill>
                <a:latin typeface="Aptos"/>
              </a:rPr>
              <a:t>Қызмет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18119" y="2560320"/>
            <a:ext cx="278892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2000" b="1">
                <a:solidFill>
                  <a:srgbClr val="20845C"/>
                </a:solidFill>
                <a:latin typeface="Aptos"/>
              </a:rPr>
              <a:t>Active / running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108960"/>
            <a:ext cx="2697480" cy="50292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pPr algn="ctr"/>
            <a:r>
              <a:rPr sz="1300" b="0">
                <a:solidFill>
                  <a:srgbClr val="283746"/>
                </a:solidFill>
                <a:latin typeface="Aptos"/>
              </a:rPr>
              <a:t>curl арқылы HTTP 200 OK алынды.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21945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800" b="1">
                <a:solidFill>
                  <a:srgbClr val="172B4D"/>
                </a:solidFill>
                <a:latin typeface="Aptos"/>
              </a:rPr>
              <a:t>Негізгі тәуекел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343400"/>
            <a:ext cx="8412480" cy="4572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600" b="0">
                <a:solidFill>
                  <a:srgbClr val="283746"/>
                </a:solidFill>
                <a:latin typeface="Aptos"/>
              </a:rPr>
              <a:t>Дискінің қайта толуы немесе конфигурация файлының рұқсаттары дұрыс қойылмауы.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83480"/>
            <a:ext cx="219456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800" b="1">
                <a:solidFill>
                  <a:srgbClr val="172B4D"/>
                </a:solidFill>
                <a:latin typeface="Aptos"/>
              </a:rPr>
              <a:t>Азайту жолы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83480"/>
            <a:ext cx="8412480" cy="68580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600" b="0">
                <a:solidFill>
                  <a:srgbClr val="283746"/>
                </a:solidFill>
                <a:latin typeface="Aptos"/>
              </a:rPr>
              <a:t>Мониторинг орнату, журналдарды мерзімді тазалау, backup кестесін сақтау және рұқсаттарды тексеру.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98480" cy="365760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1700" b="1">
                <a:solidFill>
                  <a:srgbClr val="20845C"/>
                </a:solidFill>
                <a:latin typeface="Aptos"/>
              </a:rPr>
              <a:t>Қорытынды: портал қызметі қалпына келтірілді; ресурстарды тұрақты бақылау қажет.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510528"/>
            <a:ext cx="11064240" cy="201168"/>
          </a:xfrm>
          <a:prstGeom prst="rect">
            <a:avLst/>
          </a:prstGeom>
          <a:noFill/>
        </p:spPr>
        <p:txBody>
          <a:bodyPr wrap="square" lIns="54864" rIns="54864" tIns="36576" bIns="27432">
            <a:spAutoFit/>
          </a:bodyPr>
          <a:lstStyle/>
          <a:p>
            <a:r>
              <a:rPr sz="900" b="0">
                <a:solidFill>
                  <a:srgbClr val="5F707E"/>
                </a:solidFill>
                <a:latin typeface="Aptos"/>
              </a:rPr>
              <a:t>Виртуалды машиналар және Linux қызметін қалпына келтіру  • 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